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80960" y="868680"/>
            <a:ext cx="3474720" cy="749808"/>
          </a:xfrm>
          <a:prstGeom prst="roundRect">
            <a:avLst>
              <a:gd name="adj" fmla="val 8000"/>
            </a:avLst>
          </a:prstGeom>
          <a:solidFill>
            <a:srgbClr val="1C374B"/>
          </a:solidFill>
          <a:ln>
            <a:solidFill>
              <a:srgbClr val="30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09560" y="1069848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GENETICS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89720" y="1618488"/>
            <a:ext cx="457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000" b="1">
                <a:solidFill>
                  <a:srgbClr val="188767"/>
                </a:solidFill>
                <a:latin typeface="Aptos"/>
              </a:rPr>
              <a:t>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2103120"/>
            <a:ext cx="3474720" cy="749808"/>
          </a:xfrm>
          <a:prstGeom prst="roundRect">
            <a:avLst>
              <a:gd name="adj" fmla="val 8000"/>
            </a:avLst>
          </a:prstGeom>
          <a:solidFill>
            <a:srgbClr val="1C374B"/>
          </a:solidFill>
          <a:ln>
            <a:solidFill>
              <a:srgbClr val="30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9560" y="2304288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BODY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2852927"/>
            <a:ext cx="457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000" b="1">
                <a:solidFill>
                  <a:srgbClr val="188767"/>
                </a:solidFill>
                <a:latin typeface="Aptos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337560"/>
            <a:ext cx="3474720" cy="749808"/>
          </a:xfrm>
          <a:prstGeom prst="roundRect">
            <a:avLst>
              <a:gd name="adj" fmla="val 8000"/>
            </a:avLst>
          </a:prstGeom>
          <a:solidFill>
            <a:srgbClr val="1C374B"/>
          </a:solidFill>
          <a:ln>
            <a:solidFill>
              <a:srgbClr val="30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3538728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LIFESTYLE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4087368"/>
            <a:ext cx="457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000" b="1">
                <a:solidFill>
                  <a:srgbClr val="188767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572000"/>
            <a:ext cx="3474720" cy="749808"/>
          </a:xfrm>
          <a:prstGeom prst="roundRect">
            <a:avLst>
              <a:gd name="adj" fmla="val 8000"/>
            </a:avLst>
          </a:prstGeom>
          <a:solidFill>
            <a:srgbClr val="1C374B"/>
          </a:solidFill>
          <a:ln>
            <a:solidFill>
              <a:srgbClr val="30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4773168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METABOLIC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603504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RISK FACTORS
FOR DIABETES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71800"/>
            <a:ext cx="5212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200" b="1">
                <a:solidFill>
                  <a:srgbClr val="BEE1D6"/>
                </a:solidFill>
                <a:latin typeface="Aptos"/>
              </a:rPr>
              <a:t>From Genetics to Lifestyle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6692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CDD7DE"/>
                </a:solidFill>
                <a:latin typeface="Aptos"/>
              </a:rPr>
              <a:t>A clinical approach to metabolic vulnerability, phenotype and early risk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Why Risk Factor Assessment Is Critical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25146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17190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2364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719072"/>
            <a:ext cx="1673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Diabetes is progressive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176272"/>
            <a:ext cx="1673352" cy="2770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Not an on/off disease — metabolic failure evolves over many years.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554480"/>
            <a:ext cx="25146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10712" y="17190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172364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7" y="1719072"/>
            <a:ext cx="1673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β-cell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4487" y="2176272"/>
            <a:ext cx="1673352" cy="2770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By fasting glucose ≥126 mg/dL, the source states that 50% of β-cell function is already lost.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1554480"/>
            <a:ext cx="25146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62472" y="17190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62472" y="172364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1719072"/>
            <a:ext cx="1673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Early injury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2176272"/>
            <a:ext cx="1673352" cy="2770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Microvascular injury may already have begun, and cardiovascular risk may already be elevated.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1554480"/>
            <a:ext cx="2880360" cy="352044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14232" y="17190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14232" y="172364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1719072"/>
            <a:ext cx="20391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Why assess risk?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2176272"/>
            <a:ext cx="2039112" cy="2770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Identify metabolic vulnerability
Detect early pathophysiological changes
Intervene before irreversible β-cell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532120"/>
            <a:ext cx="9784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600" b="1">
                <a:solidFill>
                  <a:srgbClr val="188767"/>
                </a:solidFill>
                <a:latin typeface="Aptos"/>
              </a:rPr>
              <a:t>EARLY RISK RECOGNITION  →  EARLIER CLINICAL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Diabetes as a Continuum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188767"/>
                </a:solidFill>
                <a:latin typeface="Aptos"/>
              </a:rPr>
              <a:t>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1645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F263A"/>
                </a:solidFill>
                <a:latin typeface="Aptos"/>
              </a:rPr>
              <a:t>Glucose tolerance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32888" y="2542032"/>
            <a:ext cx="274320" cy="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2072" y="18288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2057400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188767"/>
                </a:solidFill>
                <a:latin typeface="Aptos"/>
              </a:rPr>
              <a:t>COMPENSATED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487168"/>
            <a:ext cx="1645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F263A"/>
                </a:solidFill>
                <a:latin typeface="Aptos"/>
              </a:rPr>
              <a:t>Insulin resistance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2542032"/>
            <a:ext cx="274320" cy="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9784" y="18288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66944" y="2057400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188767"/>
                </a:solidFill>
                <a:latin typeface="Aptos"/>
              </a:rPr>
              <a:t>PREDIABETES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487168"/>
            <a:ext cx="1645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F263A"/>
                </a:solidFill>
                <a:latin typeface="Aptos"/>
              </a:rPr>
              <a:t>Dysglycaemia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68312" y="2542032"/>
            <a:ext cx="274320" cy="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97496" y="18288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34656" y="2057400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188767"/>
                </a:solidFill>
                <a:latin typeface="Aptos"/>
              </a:rPr>
              <a:t>OVERT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2487168"/>
            <a:ext cx="1645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F263A"/>
                </a:solidFill>
                <a:latin typeface="Aptos"/>
              </a:rPr>
              <a:t>Diabetes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36024" y="2542032"/>
            <a:ext cx="274320" cy="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65208" y="18288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02368" y="2057400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188767"/>
                </a:solidFill>
                <a:latin typeface="Aptos"/>
              </a:rPr>
              <a:t>INSULIN-DEPENDENT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487168"/>
            <a:ext cx="1645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F263A"/>
                </a:solidFill>
                <a:latin typeface="Aptos"/>
              </a:rPr>
              <a:t>Diabetes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160520"/>
            <a:ext cx="10058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100" b="1">
                <a:solidFill>
                  <a:srgbClr val="0F263A"/>
                </a:solidFill>
                <a:latin typeface="Aptos"/>
              </a:rPr>
              <a:t>Each stage has distinct laboratory signatures.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892040"/>
            <a:ext cx="9326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0">
                <a:solidFill>
                  <a:srgbClr val="596974"/>
                </a:solidFill>
                <a:latin typeface="Aptos"/>
              </a:rPr>
              <a:t>Think in terms of progression — not a single diagnostic moment.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Two Biological Axes That Determine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76479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900" b="1">
                <a:solidFill>
                  <a:srgbClr val="0F263A"/>
                </a:solidFill>
                <a:latin typeface="Aptos"/>
              </a:rPr>
              <a:t>INSULIN RESISTANCE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672583" cy="2679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1F2B34"/>
                </a:solidFill>
                <a:latin typeface="Aptos"/>
              </a:rPr>
              <a:t>Muscle
Liver
Adipose tissue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33172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2340863"/>
            <a:ext cx="658368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500" b="1">
                <a:solidFill>
                  <a:srgbClr val="188767"/>
                </a:solidFill>
                <a:latin typeface="Aptos"/>
              </a:rPr>
              <a:t>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76479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900" b="1">
                <a:solidFill>
                  <a:srgbClr val="0F263A"/>
                </a:solidFill>
                <a:latin typeface="Aptos"/>
              </a:rPr>
              <a:t>β-CELL 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221992"/>
            <a:ext cx="4672583" cy="2679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1F2B34"/>
                </a:solidFill>
                <a:latin typeface="Aptos"/>
              </a:rPr>
              <a:t>Ability of the pancreas to compensate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600" b="1">
                <a:solidFill>
                  <a:srgbClr val="0F263A"/>
                </a:solidFill>
                <a:latin typeface="Aptos"/>
              </a:rPr>
              <a:t>Patients develop diabetes when insulin resistance exceeds β-cell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Clinical Meaning of Risk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2578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1" y="167335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6779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73351"/>
            <a:ext cx="4416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Risk factors are not equal.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130552"/>
            <a:ext cx="441655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0">
                <a:solidFill>
                  <a:srgbClr val="1F2B34"/>
                </a:solidFill>
                <a:latin typeface="Aptos"/>
              </a:rPr>
              <a:t>Interpret them in terms of the underlying biology.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2578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167335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6779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673351"/>
            <a:ext cx="4416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Insulin-resistance dominance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130552"/>
            <a:ext cx="441655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0">
                <a:solidFill>
                  <a:srgbClr val="1F2B34"/>
                </a:solidFill>
                <a:latin typeface="Aptos"/>
              </a:rPr>
              <a:t>Obese • Sedentary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5257800" cy="1572768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1" y="35935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35981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593592"/>
            <a:ext cx="4416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β-cell vulnerability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050791"/>
            <a:ext cx="441655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0">
                <a:solidFill>
                  <a:srgbClr val="1F2B34"/>
                </a:solidFill>
                <a:latin typeface="Aptos"/>
              </a:rPr>
              <a:t>Family history • Lean Indians • GDM • LADA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29000"/>
            <a:ext cx="52578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28232" y="35935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35981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593592"/>
            <a:ext cx="4416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Correct 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4050791"/>
            <a:ext cx="441655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0">
                <a:solidFill>
                  <a:srgbClr val="1F2B34"/>
                </a:solidFill>
                <a:latin typeface="Aptos"/>
              </a:rPr>
              <a:t>Which tests to order
Which phenotype to expect
How aggressively to intervene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188767"/>
                </a:solidFill>
                <a:latin typeface="Aptos"/>
              </a:rPr>
              <a:t>INTERPRETATION  →  TEST SELECTION  →  PHENOTYPE  →  INTERVENTION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How Age Increases Diabetes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10512"/>
            <a:ext cx="170078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β-cell replication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267712"/>
            <a:ext cx="1700784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Declines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16459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66744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6744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810512"/>
            <a:ext cx="170078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Mitochondrial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267712"/>
            <a:ext cx="1700784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Dysfunction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6459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83096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3096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1810512"/>
            <a:ext cx="170078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Oxidative stress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267712"/>
            <a:ext cx="1700784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Increases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856" y="16459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99448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99448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1810512"/>
            <a:ext cx="170078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Insulin secretion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2267712"/>
            <a:ext cx="1700784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Reduced 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251960"/>
            <a:ext cx="9966960" cy="105156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4498848"/>
            <a:ext cx="1920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188767"/>
                </a:solidFill>
                <a:latin typeface="Aptos"/>
              </a:rPr>
              <a:t>CLINICAL IMPLICATION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443984"/>
            <a:ext cx="72237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Older adults tolerate metabolic stress poorly and progress faster.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Young Age of Onset = Aggressive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3337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5623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Strong genetic 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91640"/>
            <a:ext cx="3337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9087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87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185623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Early β-cell vulnerability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91640"/>
            <a:ext cx="3337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9419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185623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Higher lifetime complication burden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617720"/>
            <a:ext cx="10058400" cy="868680"/>
          </a:xfrm>
          <a:prstGeom prst="roundRect">
            <a:avLst>
              <a:gd name="adj" fmla="val 8000"/>
            </a:avLst>
          </a:prstGeom>
          <a:solidFill>
            <a:srgbClr val="0F263A"/>
          </a:solidFill>
          <a:ln>
            <a:solidFill>
              <a:srgbClr val="0F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4864608"/>
            <a:ext cx="9601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YOUNG DYSGYCAEMIA SHOULD NEVER BE DISMISSED.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South Asian / Indian Diabetes Phenotype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057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810512"/>
            <a:ext cx="12161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1">
                <a:solidFill>
                  <a:srgbClr val="0F263A"/>
                </a:solidFill>
                <a:latin typeface="Aptos"/>
              </a:rPr>
              <a:t>VISceral fat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267712"/>
            <a:ext cx="1216152" cy="1901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Higher at lower BMI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1645920"/>
            <a:ext cx="2057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17520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1810512"/>
            <a:ext cx="12161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1">
                <a:solidFill>
                  <a:srgbClr val="0F263A"/>
                </a:solidFill>
                <a:latin typeface="Aptos"/>
              </a:rPr>
              <a:t>MUSCLE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267712"/>
            <a:ext cx="1216152" cy="1901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Lower skeletal muscle mass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57216" y="1645920"/>
            <a:ext cx="2057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21807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21807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3" y="1810512"/>
            <a:ext cx="12161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1">
                <a:solidFill>
                  <a:srgbClr val="0F263A"/>
                </a:solidFill>
                <a:latin typeface="Aptos"/>
              </a:rPr>
              <a:t>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3" y="2267712"/>
            <a:ext cx="1216152" cy="1901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Higher hepatic fat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645920"/>
            <a:ext cx="2057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26096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26096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1810512"/>
            <a:ext cx="12161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1">
                <a:solidFill>
                  <a:srgbClr val="0F263A"/>
                </a:solidFill>
                <a:latin typeface="Aptos"/>
              </a:rPr>
              <a:t>EARLY 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2267712"/>
            <a:ext cx="1216152" cy="1901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Early insulin resistance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65792" y="1645920"/>
            <a:ext cx="2057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30384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30384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1810512"/>
            <a:ext cx="12161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1">
                <a:solidFill>
                  <a:srgbClr val="0F263A"/>
                </a:solidFill>
                <a:latin typeface="Aptos"/>
              </a:rPr>
              <a:t>β-CELL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2267712"/>
            <a:ext cx="1216152" cy="1901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Limited β-cell reserve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800600"/>
            <a:ext cx="10058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0F263A"/>
                </a:solidFill>
                <a:latin typeface="Aptos"/>
              </a:rPr>
              <a:t>Result: Diabetes develops at lower BMI and younger 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Clinical Consequence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4663440" cy="356616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ED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39319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300" b="1">
                <a:solidFill>
                  <a:srgbClr val="0F263A"/>
                </a:solidFill>
                <a:latin typeface="Aptos"/>
              </a:rPr>
              <a:t>LEAN INDIAN
+ HYPERGLYCAEMIA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3840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900" b="1">
                <a:solidFill>
                  <a:srgbClr val="B24646"/>
                </a:solidFill>
                <a:latin typeface="Aptos"/>
              </a:rPr>
              <a:t>≠ “MILD DIABETES”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60020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057400"/>
            <a:ext cx="4663440" cy="2194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188767"/>
                </a:solidFill>
                <a:latin typeface="Aptos"/>
              </a:rPr>
              <a:t>• </a:t>
            </a:r>
            <a:r>
              <a:rPr sz="1800">
                <a:solidFill>
                  <a:srgbClr val="1F2B34"/>
                </a:solidFill>
                <a:latin typeface="Aptos"/>
              </a:rPr>
              <a:t>Likely significant β-cell dysfunction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188767"/>
                </a:solidFill>
                <a:latin typeface="Aptos"/>
              </a:rPr>
              <a:t>• </a:t>
            </a:r>
            <a:r>
              <a:rPr sz="1800">
                <a:solidFill>
                  <a:srgbClr val="1F2B34"/>
                </a:solidFill>
                <a:latin typeface="Aptos"/>
              </a:rPr>
              <a:t>Such patients may progress rapidly.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434840"/>
            <a:ext cx="45720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Clinical phenotype matters — not body weight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What Family History Truly Represents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0749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71907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Polygenic inheritance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56231"/>
            <a:ext cx="658368" cy="658368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865375"/>
            <a:ext cx="658368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500" b="1">
                <a:solidFill>
                  <a:srgbClr val="188767"/>
                </a:solidFill>
                <a:latin typeface="Aptos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0749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71907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Shared dietary habits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59" y="1856231"/>
            <a:ext cx="658368" cy="658368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59" y="1865375"/>
            <a:ext cx="658368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500" b="1">
                <a:solidFill>
                  <a:srgbClr val="188767"/>
                </a:solidFill>
                <a:latin typeface="Aptos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50749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31927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Shared activity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456432"/>
            <a:ext cx="658368" cy="658368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3465576"/>
            <a:ext cx="658368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500" b="1">
                <a:solidFill>
                  <a:srgbClr val="188767"/>
                </a:solidFill>
                <a:latin typeface="Aptos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154680"/>
            <a:ext cx="50749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7" y="331927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Epigenetic programming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59" y="3456432"/>
            <a:ext cx="658368" cy="658368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9" y="3465576"/>
            <a:ext cx="658368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500" b="1">
                <a:solidFill>
                  <a:srgbClr val="188767"/>
                </a:solidFill>
                <a:latin typeface="Apto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92040"/>
            <a:ext cx="10241280" cy="749808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5102352"/>
            <a:ext cx="9784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188767"/>
                </a:solidFill>
                <a:latin typeface="Aptos"/>
              </a:rPr>
              <a:t>Stronger family history → lower threshold for disease.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Laboratory Clue of Genetic β-Cell Weakness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33375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5623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0F263A"/>
                </a:solidFill>
                <a:latin typeface="Aptos"/>
              </a:rPr>
              <a:t>FIRST-PHASE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313432"/>
            <a:ext cx="249631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Early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91640"/>
            <a:ext cx="33375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5371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5623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0F263A"/>
                </a:solidFill>
                <a:latin typeface="Aptos"/>
              </a:rPr>
              <a:t>FASTING C-PEPTIDE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313432"/>
            <a:ext cx="249631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Lower for a given glucose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691640"/>
            <a:ext cx="33375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57031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185623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0F263A"/>
                </a:solidFill>
                <a:latin typeface="Aptos"/>
              </a:rPr>
              <a:t>POST-PRANDIAL GLUCOSE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313432"/>
            <a:ext cx="249631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Rapid 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09160"/>
            <a:ext cx="9875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These changes can occur before fasting glucose rises.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Why Visceral Fat Is More Dangerous Than BMI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3756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29352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FREE FATTY ACIDS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2935224" cy="1856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Portal circulation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33756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1810512"/>
            <a:ext cx="29352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HEPATIC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267712"/>
            <a:ext cx="2935224" cy="1856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↑ gluconeogenesis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333756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9328" y="1810512"/>
            <a:ext cx="29352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INFLAMMATION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267712"/>
            <a:ext cx="2935224" cy="1856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Cytokines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69080" y="3063240"/>
            <a:ext cx="182880" cy="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72400" y="3063240"/>
            <a:ext cx="182879" cy="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920240" y="4754880"/>
            <a:ext cx="8321040" cy="73152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48840" y="4965192"/>
            <a:ext cx="7863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600" b="1">
                <a:solidFill>
                  <a:srgbClr val="188767"/>
                </a:solidFill>
                <a:latin typeface="Aptos"/>
              </a:rPr>
              <a:t>RESULT  →  PROFOUND INSULIN RESISTANCE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Clinical Measurement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48006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56232"/>
            <a:ext cx="3959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1">
                <a:solidFill>
                  <a:srgbClr val="0F263A"/>
                </a:solidFill>
                <a:latin typeface="Aptos"/>
              </a:rPr>
              <a:t>BMI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313432"/>
            <a:ext cx="3959352" cy="1810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1F2B34"/>
                </a:solidFill>
                <a:latin typeface="Aptos"/>
              </a:rPr>
              <a:t>Always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691640"/>
            <a:ext cx="48006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0255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1856232"/>
            <a:ext cx="3959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1">
                <a:solidFill>
                  <a:srgbClr val="0F263A"/>
                </a:solidFill>
                <a:latin typeface="Aptos"/>
              </a:rPr>
              <a:t>Waist circumference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2313432"/>
            <a:ext cx="3959352" cy="1810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1F2B34"/>
                </a:solidFill>
                <a:latin typeface="Aptos"/>
              </a:rPr>
              <a:t>Always record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709160"/>
            <a:ext cx="9601200" cy="777240"/>
          </a:xfrm>
          <a:prstGeom prst="roundRect">
            <a:avLst>
              <a:gd name="adj" fmla="val 8000"/>
            </a:avLst>
          </a:prstGeom>
          <a:solidFill>
            <a:srgbClr val="0F263A"/>
          </a:solidFill>
          <a:ln>
            <a:solidFill>
              <a:srgbClr val="0F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4937760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NORMAL BMI + HIGH WAIST = HIGH METABOLIC RISK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Muscle = Primary Glucose Disposal Organ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28346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4200" b="1">
                <a:solidFill>
                  <a:srgbClr val="188767"/>
                </a:solidFill>
                <a:latin typeface="Aptos"/>
              </a:rPr>
              <a:t>~70%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74320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F263A"/>
                </a:solidFill>
                <a:latin typeface="Aptos"/>
              </a:rPr>
              <a:t>of post-meal glucose uptake occurs in skeletal muscle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21945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70831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1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7" y="1810512"/>
            <a:ext cx="1353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1">
                <a:solidFill>
                  <a:srgbClr val="0F263A"/>
                </a:solidFill>
                <a:latin typeface="Aptos"/>
              </a:rPr>
              <a:t>Low muscle mass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2267712"/>
            <a:ext cx="135331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0">
                <a:solidFill>
                  <a:srgbClr val="1F2B34"/>
                </a:solidFill>
                <a:latin typeface="Aptos"/>
              </a:rPr>
              <a:t>Reduces glucose sink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645920"/>
            <a:ext cx="21945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3971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3971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1810512"/>
            <a:ext cx="1353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1">
                <a:solidFill>
                  <a:srgbClr val="0F263A"/>
                </a:solidFill>
                <a:latin typeface="Aptos"/>
              </a:rPr>
              <a:t>Post-prandial glucose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267712"/>
            <a:ext cx="135331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0">
                <a:solidFill>
                  <a:srgbClr val="1F2B34"/>
                </a:solidFill>
                <a:latin typeface="Aptos"/>
              </a:rPr>
              <a:t>Rises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645920"/>
            <a:ext cx="21945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0859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0859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1810512"/>
            <a:ext cx="1353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1">
                <a:solidFill>
                  <a:srgbClr val="0F263A"/>
                </a:solidFill>
                <a:latin typeface="Aptos"/>
              </a:rPr>
              <a:t>Insulin 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267712"/>
            <a:ext cx="135331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0">
                <a:solidFill>
                  <a:srgbClr val="1F2B34"/>
                </a:solidFill>
                <a:latin typeface="Aptos"/>
              </a:rPr>
              <a:t>Increases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Who Has Low Muscle Mass?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2423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1832" y="19019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19065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1901952"/>
            <a:ext cx="1581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Elderly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737360"/>
            <a:ext cx="2423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85032" y="19019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9065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901952"/>
            <a:ext cx="1581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Sedentary individuals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737360"/>
            <a:ext cx="2423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28231" y="19019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1" y="19065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1901952"/>
            <a:ext cx="1581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Chronic illness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737360"/>
            <a:ext cx="2423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71432" y="19019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2" y="19065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8" y="1901952"/>
            <a:ext cx="1581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Malnutrition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4617720"/>
            <a:ext cx="9601200" cy="82296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2"/>
            <a:ext cx="9052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Diabetes can develop even without obesity.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Physical Inactivity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375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GLUT-4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267712"/>
            <a:ext cx="249631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Reduced expression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3375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9431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INSULIN RESISTANCE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2267712"/>
            <a:ext cx="249631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Increased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33375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0275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VISCERAL FAT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267712"/>
            <a:ext cx="249631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Accumulation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Clinical presentation: early post-prandial hyperglycaemia.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Dietary Pattern and β-Cell Stress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886200" cy="34747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ED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31546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0F263A"/>
                </a:solidFill>
                <a:latin typeface="Aptos"/>
              </a:rPr>
              <a:t>HIGH GLYCAEMIC
LOAD DIET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880360"/>
            <a:ext cx="0" cy="45720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43000" y="3429000"/>
            <a:ext cx="31546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6152" y="3465576"/>
            <a:ext cx="30083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Repeated insulin spikes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904487"/>
            <a:ext cx="31546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16152" y="3941063"/>
            <a:ext cx="30083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β-cell exhaustion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379976"/>
            <a:ext cx="31546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6152" y="4416552"/>
            <a:ext cx="30083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Earlier failure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1554480"/>
            <a:ext cx="57150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0" y="1874519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188767"/>
                </a:solidFill>
                <a:latin typeface="Aptos"/>
              </a:rPr>
              <a:t>CLINICAL PEARL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423160"/>
            <a:ext cx="49377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200" b="1">
                <a:solidFill>
                  <a:srgbClr val="0F263A"/>
                </a:solidFill>
                <a:latin typeface="Aptos"/>
              </a:rPr>
              <a:t>Quality of carbohydrate matters more than quantity.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Prediabetes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29260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3800" b="1">
                <a:solidFill>
                  <a:srgbClr val="188767"/>
                </a:solidFill>
                <a:latin typeface="Aptos"/>
              </a:rPr>
              <a:t>5–10%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926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596974"/>
                </a:solidFill>
                <a:latin typeface="Aptos"/>
              </a:rPr>
              <a:t>annual diabetes conversion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45920"/>
            <a:ext cx="28803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2511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511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810512"/>
            <a:ext cx="20391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Insulin resistance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267712"/>
            <a:ext cx="203911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0">
                <a:solidFill>
                  <a:srgbClr val="1F2B34"/>
                </a:solidFill>
                <a:latin typeface="Aptos"/>
              </a:rPr>
              <a:t>Existing metabolic abnormality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645920"/>
            <a:ext cx="28803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7979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1810512"/>
            <a:ext cx="20391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β-cell dysfunction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267712"/>
            <a:ext cx="203911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0">
                <a:solidFill>
                  <a:srgbClr val="1F2B34"/>
                </a:solidFill>
                <a:latin typeface="Aptos"/>
              </a:rPr>
              <a:t>Already present in the source framework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4709160"/>
            <a:ext cx="9509760" cy="777240"/>
          </a:xfrm>
          <a:prstGeom prst="roundRect">
            <a:avLst>
              <a:gd name="adj" fmla="val 8000"/>
            </a:avLst>
          </a:prstGeom>
          <a:solidFill>
            <a:srgbClr val="0F263A"/>
          </a:solidFill>
          <a:ln>
            <a:solidFill>
              <a:srgbClr val="0F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937760"/>
            <a:ext cx="9052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PREDIABETES = ESTABLISHED METABOLIC DISEASE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Gestational Diabetes: A Long-Term Diabetes Risk Marker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4747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1" y="167335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6779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73351"/>
            <a:ext cx="26334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130552"/>
            <a:ext cx="2633472" cy="3136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0">
                <a:solidFill>
                  <a:srgbClr val="1F2B34"/>
                </a:solidFill>
                <a:latin typeface="Aptos"/>
              </a:rPr>
              <a:t>Pregnancy increases insulin resistance.
GDM may reveal limited β-cell reserve.
Future diabetes risk remains elevated after pregnancy.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08760"/>
            <a:ext cx="3474720" cy="388620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07992" y="167335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6779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673351"/>
            <a:ext cx="26334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Follow-up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130552"/>
            <a:ext cx="2633472" cy="3136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0">
                <a:solidFill>
                  <a:srgbClr val="1F2B34"/>
                </a:solidFill>
                <a:latin typeface="Aptos"/>
              </a:rPr>
              <a:t>75-g OGTT at 4–12 weeks postpartum.
If normal: lifelong screening every 1–3 years.
Ongoing lifestyle and cardiometabolic risk management.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08760"/>
            <a:ext cx="3474720" cy="388620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11312" y="167335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16779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673351"/>
            <a:ext cx="26334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Clinical 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130552"/>
            <a:ext cx="2633472" cy="3136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GDM is not only a pregnancy diagnosis.
It is a long-term metabolic risk marker.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Gestational Diabetes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657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600" b="1">
                <a:solidFill>
                  <a:srgbClr val="596974"/>
                </a:solidFill>
                <a:latin typeface="Aptos"/>
              </a:rPr>
              <a:t>PREGNANCY STRESS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331720"/>
            <a:ext cx="0" cy="50292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2880360"/>
            <a:ext cx="365760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300" b="1">
                <a:solidFill>
                  <a:srgbClr val="0F263A"/>
                </a:solidFill>
                <a:latin typeface="Aptos"/>
              </a:rPr>
              <a:t>LIMITED β-CELL
RESERVE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6280" y="3246120"/>
            <a:ext cx="1280160" cy="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5040" y="2057400"/>
            <a:ext cx="30175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3800" b="1">
                <a:solidFill>
                  <a:srgbClr val="188767"/>
                </a:solidFill>
                <a:latin typeface="Aptos"/>
              </a:rPr>
              <a:t>40–60%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971800"/>
            <a:ext cx="30175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0F263A"/>
                </a:solidFill>
                <a:latin typeface="Aptos"/>
              </a:rPr>
              <a:t>develop T2DM within 10 years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PCOS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737360"/>
            <a:ext cx="3657600" cy="347472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1773936"/>
            <a:ext cx="351129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01  INSULIN RESISTANCE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423160"/>
            <a:ext cx="3657600" cy="34747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ED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2459736"/>
            <a:ext cx="351129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2B9E9B"/>
                </a:solidFill>
                <a:latin typeface="Aptos"/>
              </a:rPr>
              <a:t>02  HIGH LIFETIME DIABETES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108960"/>
            <a:ext cx="365760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3145536"/>
            <a:ext cx="351129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03  SCREEN EARLY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554480"/>
            <a:ext cx="5029200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65960"/>
            <a:ext cx="42062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3200" b="1">
                <a:solidFill>
                  <a:srgbClr val="0F263A"/>
                </a:solidFill>
                <a:latin typeface="Aptos"/>
              </a:rPr>
              <a:t>PCOS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743200"/>
            <a:ext cx="4206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500" b="0">
                <a:solidFill>
                  <a:srgbClr val="596974"/>
                </a:solidFill>
                <a:latin typeface="Aptos"/>
              </a:rPr>
              <a:t>An important metabolic risk state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Core Screening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3375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85623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FASTING PLASMA GLUCOSE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3375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99431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1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185623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HbA1c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91640"/>
            <a:ext cx="33375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0275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185623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OGTT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313432"/>
            <a:ext cx="2496312" cy="1627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0">
                <a:solidFill>
                  <a:srgbClr val="1F2B34"/>
                </a:solidFill>
                <a:latin typeface="Aptos"/>
              </a:rPr>
              <a:t>If doubt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09160"/>
            <a:ext cx="9875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These detect dysglycaemia — not the underlying biology.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Fasting Insulin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2461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764792"/>
            <a:ext cx="24048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What it reflects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221992"/>
            <a:ext cx="2404872" cy="2496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1F2B34"/>
                </a:solidFill>
                <a:latin typeface="Aptos"/>
              </a:rPr>
              <a:t>Degree of insulin secretion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00200"/>
            <a:ext cx="3246120" cy="324612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0799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764792"/>
            <a:ext cx="24048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High fasting insulin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221992"/>
            <a:ext cx="2404872" cy="2496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1F2B34"/>
                </a:solidFill>
                <a:latin typeface="Aptos"/>
              </a:rPr>
              <a:t>Suggests insulin resistance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600200"/>
            <a:ext cx="3246120" cy="32461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19871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1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1764792"/>
            <a:ext cx="24048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Low / normal insulin + hyperglycaemia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2221992"/>
            <a:ext cx="2404872" cy="2496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Suggests β-cell failure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HOMA-IR — Insulin Resistance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6583680" cy="1828800"/>
          </a:xfrm>
          <a:prstGeom prst="roundRect">
            <a:avLst>
              <a:gd name="adj" fmla="val 8000"/>
            </a:avLst>
          </a:prstGeom>
          <a:solidFill>
            <a:srgbClr val="0F263A"/>
          </a:solidFill>
          <a:ln>
            <a:solidFill>
              <a:srgbClr val="0F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6035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HOMA-IR = (Fasting glucose × Fasting insulin) / 405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554480"/>
            <a:ext cx="1554480" cy="164592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719072"/>
            <a:ext cx="115214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1">
                <a:solidFill>
                  <a:srgbClr val="0F263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2176272"/>
            <a:ext cx="1152144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0">
                <a:solidFill>
                  <a:srgbClr val="1F2B34"/>
                </a:solidFill>
                <a:latin typeface="Aptos"/>
              </a:rPr>
              <a:t>Insulin resistance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554480"/>
            <a:ext cx="1554480" cy="16459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10928" y="1719072"/>
            <a:ext cx="115214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0928" y="2176272"/>
            <a:ext cx="1152144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0">
                <a:solidFill>
                  <a:srgbClr val="1F2B34"/>
                </a:solidFill>
                <a:latin typeface="Aptos"/>
              </a:rPr>
              <a:t>Significant insulin resistance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160520"/>
            <a:ext cx="80467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0F263A"/>
                </a:solidFill>
                <a:latin typeface="Aptos"/>
              </a:rPr>
              <a:t>Useful in early disease.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C-Peptide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424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0">
                <a:solidFill>
                  <a:srgbClr val="596974"/>
                </a:solidFill>
                <a:latin typeface="Aptos"/>
              </a:rPr>
              <a:t>Reflects endogenous insulin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4754880" cy="242316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33271" y="21305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21351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130552"/>
            <a:ext cx="39136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1">
                <a:solidFill>
                  <a:srgbClr val="0F263A"/>
                </a:solidFill>
                <a:latin typeface="Aptos"/>
              </a:rPr>
              <a:t>Normal /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587752"/>
            <a:ext cx="391363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1F2B34"/>
                </a:solidFill>
                <a:latin typeface="Aptos"/>
              </a:rPr>
              <a:t>Preserved β-cell function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965960"/>
            <a:ext cx="4754880" cy="242316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02552" y="213055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02552" y="21351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2130552"/>
            <a:ext cx="39136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1">
                <a:solidFill>
                  <a:srgbClr val="0F263A"/>
                </a:solidFill>
                <a:latin typeface="Apto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2587752"/>
            <a:ext cx="391363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1F2B34"/>
                </a:solidFill>
                <a:latin typeface="Aptos"/>
              </a:rPr>
              <a:t>β-cell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892040"/>
            <a:ext cx="55778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Interpret alongside glucose.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OGTT Pattern Recognition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333756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1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76479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2-h ↑ + fasting 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221992"/>
            <a:ext cx="2496312" cy="2039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Muscle insulin resistance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00200"/>
            <a:ext cx="333756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0799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76479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Fasting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221992"/>
            <a:ext cx="2496312" cy="2039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Hepatic insulin resistance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600200"/>
            <a:ext cx="333756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11311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BE7D23"/>
          </a:solidFill>
          <a:ln>
            <a:solidFill>
              <a:srgbClr val="BE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1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6479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Fasting ↑ + 2-h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221992"/>
            <a:ext cx="2496312" cy="2039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Advanced disease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550" b="1">
                <a:solidFill>
                  <a:srgbClr val="0F263A"/>
                </a:solidFill>
                <a:latin typeface="Aptos"/>
              </a:rPr>
              <a:t>Use the pattern to think about the dominant site of metabolic dysfunction.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188767"/>
                </a:solidFill>
                <a:latin typeface="Aptos"/>
              </a:rPr>
              <a:t>DOCTYN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Investigations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1" y="16276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6322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27632"/>
            <a:ext cx="4416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Normal glucose + high insulin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084832"/>
            <a:ext cx="4416552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Compensated insulin resistance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16276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6322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627632"/>
            <a:ext cx="4416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Prediabetes + high insulin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084832"/>
            <a:ext cx="4416552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Insulin-resistance-dominant 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20440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1" y="36850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36896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685032"/>
            <a:ext cx="4416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Prediabetes + low C-peptide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42232"/>
            <a:ext cx="4416552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β-cell-dominant stage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520440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28232" y="36850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36896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685032"/>
            <a:ext cx="4416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Diabetes + low C-peptide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4142232"/>
            <a:ext cx="4416552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F2B34"/>
                </a:solidFill>
                <a:latin typeface="Aptos"/>
              </a:rPr>
              <a:t>Advanced β-cell failure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Insulin-Resistance Dominant Phenotype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636776"/>
            <a:ext cx="2185415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Obese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636776"/>
            <a:ext cx="2185415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High fasting insulin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1636776"/>
            <a:ext cx="2185415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High HOMA-IR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00200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34272" y="1636776"/>
            <a:ext cx="2185415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High C-peptide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2743200"/>
            <a:ext cx="10241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306324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188767"/>
                </a:solidFill>
                <a:latin typeface="Aptos"/>
              </a:rPr>
              <a:t>Clinical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66160"/>
            <a:ext cx="90525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200" b="1">
                <a:solidFill>
                  <a:srgbClr val="0F263A"/>
                </a:solidFill>
                <a:latin typeface="Aptos"/>
              </a:rPr>
              <a:t>Lifestyle modification + metformin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160520"/>
            <a:ext cx="7772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0">
                <a:solidFill>
                  <a:srgbClr val="596974"/>
                </a:solidFill>
                <a:latin typeface="Aptos"/>
              </a:rPr>
              <a:t>Source: these patients respond well to this approach.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β-Cell Failure Dominant Phenotype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2468880" cy="34747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ED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636776"/>
            <a:ext cx="23225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2B9E9B"/>
                </a:solidFill>
                <a:latin typeface="Aptos"/>
              </a:rPr>
              <a:t>Lean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468880" cy="34747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ED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636776"/>
            <a:ext cx="23225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2B9E9B"/>
                </a:solidFill>
                <a:latin typeface="Aptos"/>
              </a:rPr>
              <a:t>Family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00200"/>
            <a:ext cx="2468880" cy="34747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ED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636776"/>
            <a:ext cx="23225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2B9E9B"/>
                </a:solidFill>
                <a:latin typeface="Aptos"/>
              </a:rPr>
              <a:t>Low C-peptide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600200"/>
            <a:ext cx="2468880" cy="34747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ED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1636776"/>
            <a:ext cx="23225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2B9E9B"/>
                </a:solidFill>
                <a:latin typeface="Aptos"/>
              </a:rPr>
              <a:t>Rapid progression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2834640"/>
            <a:ext cx="10241280" cy="196596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3520440"/>
            <a:ext cx="96012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400" b="1">
                <a:solidFill>
                  <a:srgbClr val="0F263A"/>
                </a:solidFill>
                <a:latin typeface="Aptos"/>
              </a:rPr>
              <a:t>Often require early insulin.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Young Lean Patient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61" y="1618488"/>
            <a:ext cx="3657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627632"/>
            <a:ext cx="325526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PATIENT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84832"/>
            <a:ext cx="3255264" cy="2816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 dirty="0">
                <a:solidFill>
                  <a:srgbClr val="1F2B34"/>
                </a:solidFill>
                <a:latin typeface="Aptos"/>
              </a:rPr>
              <a:t>Age: 24 years
BMI: 21 kg/m²
HbA1c: 6.2%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4568" y="1627632"/>
            <a:ext cx="2971800" cy="265176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18888" y="1627632"/>
            <a:ext cx="256946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LAB CLUES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084832"/>
            <a:ext cx="2569464" cy="2816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Fasting insulin: low-normal
C-peptide: low-normal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18488"/>
            <a:ext cx="3136392" cy="2660904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1627632"/>
            <a:ext cx="320954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084832"/>
            <a:ext cx="3209544" cy="2816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000" b="0">
                <a:solidFill>
                  <a:srgbClr val="1F2B34"/>
                </a:solidFill>
                <a:latin typeface="Aptos"/>
              </a:rPr>
              <a:t>Early β-cell failure
Consider LADA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188767"/>
                </a:solidFill>
                <a:latin typeface="Aptos"/>
              </a:rPr>
              <a:t>DOCTYN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Obese Middle-Aged Patient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333756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581912"/>
            <a:ext cx="29352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39112"/>
            <a:ext cx="2935224" cy="2862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1F2B34"/>
                </a:solidFill>
                <a:latin typeface="Aptos"/>
              </a:rPr>
              <a:t>Age: 48 years
BMI: 31
HbA1c: 6.4%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417320"/>
            <a:ext cx="3337560" cy="36118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53128" y="1581912"/>
            <a:ext cx="29352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039112"/>
            <a:ext cx="2935224" cy="2862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1F2B34"/>
                </a:solidFill>
                <a:latin typeface="Aptos"/>
              </a:rPr>
              <a:t>High fasting insulin
High HOMA-IR
Normal C-peptide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417320"/>
            <a:ext cx="3611880" cy="361188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1581912"/>
            <a:ext cx="320954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039112"/>
            <a:ext cx="3209544" cy="2862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900" b="0">
                <a:solidFill>
                  <a:srgbClr val="1F2B34"/>
                </a:solidFill>
                <a:latin typeface="Aptos"/>
              </a:rPr>
              <a:t>Insulin-resistance-dominant
Prediabetes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Woman With History of GDM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79" y="1737360"/>
            <a:ext cx="4526281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382012"/>
            <a:ext cx="471830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 dirty="0">
                <a:solidFill>
                  <a:srgbClr val="0F263A"/>
                </a:solidFill>
                <a:latin typeface="Aptos"/>
              </a:rPr>
              <a:t>PATIENT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80" y="2898648"/>
            <a:ext cx="4718303" cy="2770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 dirty="0">
                <a:solidFill>
                  <a:srgbClr val="1F2B34"/>
                </a:solidFill>
                <a:latin typeface="Aptos"/>
              </a:rPr>
              <a:t>32-year-old female
BMI: 24 kg/m²
Waist circumference: 88 cm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737360"/>
            <a:ext cx="4453128" cy="2944368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7" y="2340864"/>
            <a:ext cx="471830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 dirty="0">
                <a:solidFill>
                  <a:srgbClr val="0F263A"/>
                </a:solidFill>
                <a:latin typeface="Aptos"/>
              </a:rPr>
              <a:t>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7" y="2715768"/>
            <a:ext cx="4718303" cy="2770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 dirty="0">
                <a:solidFill>
                  <a:srgbClr val="1F2B34"/>
                </a:solidFill>
                <a:latin typeface="Aptos"/>
              </a:rPr>
              <a:t>Gestational diabetes 4 years ago
Currently asymptomatic
No known diabetes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Initial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188767"/>
                </a:solidFill>
                <a:latin typeface="Aptos"/>
              </a:rPr>
              <a:t>HIGH-RISK BECAUSE OF PRIOR GDM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" y="20848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0894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084832"/>
            <a:ext cx="28163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542032"/>
            <a:ext cx="281635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1F2B34"/>
                </a:solidFill>
                <a:latin typeface="Aptos"/>
              </a:rPr>
              <a:t>Fasting plasma glucose
HbA1c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920240"/>
            <a:ext cx="2926080" cy="24688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90872" y="20848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0872" y="20894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084832"/>
            <a:ext cx="20848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FBS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542032"/>
            <a:ext cx="208483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000" b="0">
                <a:solidFill>
                  <a:srgbClr val="1F2B34"/>
                </a:solidFill>
                <a:latin typeface="Aptos"/>
              </a:rPr>
              <a:t>108 mg/dL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1920240"/>
            <a:ext cx="2926080" cy="246888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54112" y="20848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54112" y="20894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084832"/>
            <a:ext cx="20848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HbA1c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542032"/>
            <a:ext cx="208483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000" b="0">
                <a:solidFill>
                  <a:srgbClr val="1F2B34"/>
                </a:solidFill>
                <a:latin typeface="Aptos"/>
              </a:rPr>
              <a:t>6.0%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Interpretation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3840480" cy="301752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32004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400" b="1">
                <a:solidFill>
                  <a:srgbClr val="0F263A"/>
                </a:solidFill>
                <a:latin typeface="Aptos"/>
              </a:rPr>
              <a:t>PREDIABETES
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28800"/>
            <a:ext cx="60350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100" b="1">
                <a:solidFill>
                  <a:srgbClr val="0F263A"/>
                </a:solidFill>
                <a:latin typeface="Aptos"/>
              </a:rPr>
              <a:t>Existing insulin resistance
+ limited β-cell reserve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97180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56631" y="31363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56631" y="31409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3136392"/>
            <a:ext cx="1901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0F263A"/>
                </a:solidFill>
                <a:latin typeface="Aptos"/>
              </a:rPr>
              <a:t>NEXT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7" y="3593592"/>
            <a:ext cx="1901952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Fasting insulin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97180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19871" y="31363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1" y="31409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136392"/>
            <a:ext cx="1901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0F263A"/>
                </a:solidFill>
                <a:latin typeface="Aptos"/>
              </a:rPr>
              <a:t>NEXT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3593592"/>
            <a:ext cx="1901952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1F2B34"/>
                </a:solidFill>
                <a:latin typeface="Aptos"/>
              </a:rPr>
              <a:t>C-peptide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Advanced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91640"/>
            <a:ext cx="4572000" cy="292608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7899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856232"/>
            <a:ext cx="37307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Fasting insulin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313432"/>
            <a:ext cx="3730752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400" b="0">
                <a:solidFill>
                  <a:srgbClr val="1F2B34"/>
                </a:solidFill>
                <a:latin typeface="Aptos"/>
              </a:rPr>
              <a:t>18 µIU/mL
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691640"/>
            <a:ext cx="4572000" cy="29260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93992" y="1856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93992" y="186080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1856232"/>
            <a:ext cx="37307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C-peptide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313432"/>
            <a:ext cx="3730752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400" b="0">
                <a:solidFill>
                  <a:srgbClr val="1F2B34"/>
                </a:solidFill>
                <a:latin typeface="Aptos"/>
              </a:rPr>
              <a:t>NORMAL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Clinical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926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500" b="1">
                <a:solidFill>
                  <a:srgbClr val="188767"/>
                </a:solidFill>
                <a:latin typeface="Aptos"/>
              </a:rPr>
              <a:t>PREDIABETES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755648"/>
            <a:ext cx="4572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400" b="1">
                <a:solidFill>
                  <a:srgbClr val="596974"/>
                </a:solidFill>
                <a:latin typeface="Aptos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65836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000" b="1">
                <a:solidFill>
                  <a:srgbClr val="0F263A"/>
                </a:solidFill>
                <a:latin typeface="Aptos"/>
              </a:rPr>
              <a:t>INSULIN-RESISTANCE-DOMINANT PHENOTYPE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971800"/>
            <a:ext cx="9966960" cy="100584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3264408"/>
            <a:ext cx="9418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High likelihood of progression without intervention.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Management Implication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375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Intensive lifestyle intervention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3375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9431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Consider metformin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33375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0275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Annual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800600"/>
            <a:ext cx="80467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Goal: interrupt progression early.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Case 4 — Clinical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63040"/>
            <a:ext cx="38404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627632"/>
            <a:ext cx="343814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PATIENT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84832"/>
            <a:ext cx="3438144" cy="2816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1F2B34"/>
                </a:solidFill>
                <a:latin typeface="Aptos"/>
              </a:rPr>
              <a:t>35-year-old male
BMI: 22 kg/m²
Diabetes diagnosed 8 months ago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463040"/>
            <a:ext cx="2926080" cy="356616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1627632"/>
            <a:ext cx="252374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TREATMENT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084832"/>
            <a:ext cx="2523744" cy="2816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1F2B34"/>
                </a:solidFill>
                <a:latin typeface="Aptos"/>
              </a:rPr>
              <a:t>Metformin + sulfonylurea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4630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0728" y="1627632"/>
            <a:ext cx="311810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2084832"/>
            <a:ext cx="3118104" cy="2816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300" b="0">
                <a:solidFill>
                  <a:srgbClr val="1F2B34"/>
                </a:solidFill>
                <a:latin typeface="Aptos"/>
              </a:rPr>
              <a:t>HbA1c remains 9.2%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Clinical Concern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37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Lean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337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9431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Poor response to oral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3337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0275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Early failure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709160"/>
            <a:ext cx="9875520" cy="73152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25880" y="4910328"/>
            <a:ext cx="9326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Suspect β-cell failure / LADA.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Investigations Ordered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200400" cy="260604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7190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72364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719072"/>
            <a:ext cx="23591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C-PEPTIDE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176272"/>
            <a:ext cx="2359152" cy="1856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200" b="0">
                <a:solidFill>
                  <a:srgbClr val="1F2B34"/>
                </a:solidFill>
                <a:latin typeface="Aptos"/>
              </a:rPr>
              <a:t>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554480"/>
            <a:ext cx="3200400" cy="260604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45152" y="17190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172364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719072"/>
            <a:ext cx="23591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GAD ANTIBODIES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176272"/>
            <a:ext cx="2359152" cy="1856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200" b="0">
                <a:solidFill>
                  <a:srgbClr val="1F2B34"/>
                </a:solidFill>
                <a:latin typeface="Aptos"/>
              </a:rPr>
              <a:t>Positive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554480"/>
            <a:ext cx="32461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48471" y="17190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1" y="172364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1719072"/>
            <a:ext cx="24048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2176272"/>
            <a:ext cx="2404872" cy="1856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1F2B34"/>
                </a:solidFill>
                <a:latin typeface="Aptos"/>
              </a:rPr>
              <a:t>LADA
Autoimmune β-cell destruction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Management Implication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33375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B24646"/>
          </a:solidFill>
          <a:ln>
            <a:solidFill>
              <a:srgbClr val="B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76479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1">
                <a:solidFill>
                  <a:srgbClr val="0F263A"/>
                </a:solidFill>
                <a:latin typeface="Aptos"/>
              </a:rPr>
              <a:t>Stop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221992"/>
            <a:ext cx="2496312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900" b="0">
                <a:solidFill>
                  <a:srgbClr val="1F2B34"/>
                </a:solidFill>
                <a:latin typeface="Aptos"/>
              </a:rPr>
              <a:t>Sulfonylurea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600200"/>
            <a:ext cx="33375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99431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1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176479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1">
                <a:solidFill>
                  <a:srgbClr val="0F263A"/>
                </a:solidFill>
                <a:latin typeface="Aptos"/>
              </a:rPr>
              <a:t>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7" y="2221992"/>
            <a:ext cx="2496312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900" b="0">
                <a:solidFill>
                  <a:srgbClr val="1F2B34"/>
                </a:solidFill>
                <a:latin typeface="Aptos"/>
              </a:rPr>
              <a:t>Insulin early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00200"/>
            <a:ext cx="33375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0275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6479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1">
                <a:solidFill>
                  <a:srgbClr val="0F263A"/>
                </a:solidFill>
                <a:latin typeface="Aptos"/>
              </a:rPr>
              <a:t>Counsel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221992"/>
            <a:ext cx="2496312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900" b="0">
                <a:solidFill>
                  <a:srgbClr val="1F2B34"/>
                </a:solidFill>
                <a:latin typeface="Aptos"/>
              </a:rPr>
              <a:t>Patient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Obese Patient With Normal Glucose but High Insulin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1206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81912"/>
            <a:ext cx="471830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PATIENT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39112"/>
            <a:ext cx="4718303" cy="2907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1F2B34"/>
                </a:solidFill>
                <a:latin typeface="Aptos"/>
              </a:rPr>
              <a:t>42-year-old female
BMI: 34 kg/m²
Waist: 104 cm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5120640" cy="365760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581912"/>
            <a:ext cx="471830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GLYCAEMIA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039112"/>
            <a:ext cx="4718303" cy="2907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100" b="0">
                <a:solidFill>
                  <a:srgbClr val="1F2B34"/>
                </a:solidFill>
                <a:latin typeface="Aptos"/>
              </a:rPr>
              <a:t>FBS: 94 mg/dL
HbA1c: 5.4%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Why This Patient Is Not “Normal”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32918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1" y="15819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5864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581912"/>
            <a:ext cx="24505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CLINICAL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039112"/>
            <a:ext cx="2450592" cy="2862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1F2B34"/>
                </a:solidFill>
                <a:latin typeface="Aptos"/>
              </a:rPr>
              <a:t>Strong obesity + central adiposity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17320"/>
            <a:ext cx="3291840" cy="36118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62272" y="15819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15864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581912"/>
            <a:ext cx="24505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2039112"/>
            <a:ext cx="2450592" cy="2862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1F2B34"/>
                </a:solidFill>
                <a:latin typeface="Aptos"/>
              </a:rPr>
              <a:t>Fasting insulin
HOMA-IR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417320"/>
            <a:ext cx="3566160" cy="361188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19871" y="15819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9871" y="15864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1581912"/>
            <a:ext cx="2724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0F263A"/>
                </a:solidFill>
                <a:latin typeface="Aptos"/>
              </a:rPr>
              <a:t>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2039112"/>
            <a:ext cx="2724912" cy="2862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1F2B34"/>
                </a:solidFill>
                <a:latin typeface="Aptos"/>
              </a:rPr>
              <a:t>Fasting insulin: 28 µIU/mL
HOMA-IR: 6.2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49240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50" b="0">
                <a:solidFill>
                  <a:srgbClr val="596974"/>
                </a:solidFill>
                <a:latin typeface="Aptos"/>
              </a:rPr>
              <a:t>Source slide note: AHA waist-risk thresholds — &gt;94 cm men; &gt;80 cm women.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Interpretation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700" b="1">
                <a:solidFill>
                  <a:srgbClr val="188767"/>
                </a:solidFill>
                <a:latin typeface="Aptos"/>
              </a:rPr>
              <a:t>SEVERE INSULIN RESISTANCE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900" b="1">
                <a:solidFill>
                  <a:srgbClr val="0F263A"/>
                </a:solidFill>
                <a:latin typeface="Aptos"/>
              </a:rPr>
              <a:t>with compensated β-cell function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383280"/>
            <a:ext cx="9509760" cy="91440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3675887"/>
            <a:ext cx="90525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600" b="1">
                <a:solidFill>
                  <a:srgbClr val="0F263A"/>
                </a:solidFill>
                <a:latin typeface="Aptos"/>
              </a:rPr>
              <a:t>Prediabetes is not yet present — but the trajectory is toward diabetes.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Management Implication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3756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Aggressive lifestyle intervention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33756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9431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Weight loss programme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333756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0275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Repeat glycaemic testing in 6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00600"/>
            <a:ext cx="8503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Monitor the trajectory — not just today's glucose.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Algorithm: Test Ordering in Patients at Risk for Diabetes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143000" cy="347472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362456"/>
            <a:ext cx="99669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353312"/>
            <a:ext cx="3291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Identify high-risk patient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20240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08483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0F263A"/>
                </a:solidFill>
                <a:latin typeface="Aptos"/>
              </a:rPr>
              <a:t>BMI ≥23 (Indians)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920240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208483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0F263A"/>
                </a:solidFill>
                <a:latin typeface="Aptos"/>
              </a:rPr>
              <a:t>High waist circumference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295351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0F263A"/>
                </a:solidFill>
                <a:latin typeface="Aptos"/>
              </a:rPr>
              <a:t>Family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88920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2953512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0F263A"/>
                </a:solidFill>
                <a:latin typeface="Aptos"/>
              </a:rPr>
              <a:t>GDM / PCOS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822191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0F263A"/>
                </a:solidFill>
                <a:latin typeface="Aptos"/>
              </a:rPr>
              <a:t>Hypertension / dyslipidaemia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657600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7" y="3822191"/>
            <a:ext cx="46725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0F263A"/>
                </a:solidFill>
                <a:latin typeface="Aptos"/>
              </a:rPr>
              <a:t>Steroid or antipsychotic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983480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188767"/>
                </a:solidFill>
                <a:latin typeface="Aptos"/>
              </a:rPr>
              <a:t>High risk if ANY are present.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Step 2 — First-Line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1143000" cy="347472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E8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453896"/>
            <a:ext cx="99669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188767"/>
                </a:solidFill>
                <a:latin typeface="Aptos"/>
              </a:rPr>
              <a:t>STEP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1417320"/>
            <a:ext cx="3749039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67712" y="15819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67712" y="15864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7" y="1581912"/>
            <a:ext cx="290779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Fasting Plasma Glucose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3749039" cy="292608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2512" y="15819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5864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581912"/>
            <a:ext cx="290779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HbA1c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09160"/>
            <a:ext cx="4846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First-line evaluation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Interpret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50749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764792"/>
            <a:ext cx="4233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NORMAL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221992"/>
            <a:ext cx="4233672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1F2B34"/>
                </a:solidFill>
                <a:latin typeface="Aptos"/>
              </a:rPr>
              <a:t>High-risk phenotype → proceed to Step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00200"/>
            <a:ext cx="5074920" cy="320040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1967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1764792"/>
            <a:ext cx="4233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0F263A"/>
                </a:solidFill>
                <a:latin typeface="Aptos"/>
              </a:rPr>
              <a:t>PREDIABETES / DIABETES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2221992"/>
            <a:ext cx="4233672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900" b="0">
                <a:solidFill>
                  <a:srgbClr val="1F2B34"/>
                </a:solidFill>
                <a:latin typeface="Aptos"/>
              </a:rPr>
              <a:t>Proceed to Step 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33872" y="3200400"/>
            <a:ext cx="475488" cy="0"/>
          </a:xfrm>
          <a:prstGeom prst="line">
            <a:avLst/>
          </a:prstGeom>
          <a:ln w="25400">
            <a:solidFill>
              <a:srgbClr val="188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Step 4 — Mechanism Identification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37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Fasting insulin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337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9431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C-peptide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3337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02752" y="18105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BE7D23"/>
          </a:solidFill>
          <a:ln>
            <a:solidFill>
              <a:srgbClr val="BE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81508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81051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OGTT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267712"/>
            <a:ext cx="2496312" cy="1810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0">
                <a:solidFill>
                  <a:srgbClr val="1F2B34"/>
                </a:solidFill>
                <a:latin typeface="Aptos"/>
              </a:rPr>
              <a:t>Consider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54880"/>
            <a:ext cx="8595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F263A"/>
                </a:solidFill>
                <a:latin typeface="Aptos"/>
              </a:rPr>
              <a:t>Goal: identify the underlying mechanism.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Step 5 — Phenotype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5074920" cy="338328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764792"/>
            <a:ext cx="4233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INSULIN-RESISTANCE DOMINANT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221992"/>
            <a:ext cx="4233672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1F2B34"/>
                </a:solidFill>
                <a:latin typeface="Aptos"/>
              </a:rPr>
              <a:t>High insulin
+
Normal / high C-peptide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00200"/>
            <a:ext cx="5074920" cy="33832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1967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1764792"/>
            <a:ext cx="4233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0F263A"/>
                </a:solidFill>
                <a:latin typeface="Aptos"/>
              </a:rPr>
              <a:t>β-CELL FAILURE DOMINANT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2221992"/>
            <a:ext cx="4233672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1F2B34"/>
                </a:solidFill>
                <a:latin typeface="Aptos"/>
              </a:rPr>
              <a:t>Normal / low insulin
+
Low C-peptide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596974"/>
                </a:solidFill>
                <a:latin typeface="Aptos"/>
              </a:rPr>
              <a:t>CLINICAL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Step 6 —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3375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1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76479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50" b="1">
                <a:solidFill>
                  <a:srgbClr val="0F263A"/>
                </a:solidFill>
                <a:latin typeface="Aptos"/>
              </a:rPr>
              <a:t>INSULIN-RESISTANCE DOMINANT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21992"/>
            <a:ext cx="2496312" cy="2313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1F2B34"/>
                </a:solidFill>
                <a:latin typeface="Aptos"/>
              </a:rPr>
              <a:t>Lifestyle modification + metformin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600200"/>
            <a:ext cx="3337560" cy="306324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07992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B9E9B"/>
          </a:solidFill>
          <a:ln>
            <a:solidFill>
              <a:srgbClr val="2B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7992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176479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50" b="1">
                <a:solidFill>
                  <a:srgbClr val="0F263A"/>
                </a:solidFill>
                <a:latin typeface="Aptos"/>
              </a:rPr>
              <a:t>β-CELL DOMINANT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2221992"/>
            <a:ext cx="2496312" cy="2313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1F2B34"/>
                </a:solidFill>
                <a:latin typeface="Aptos"/>
              </a:rPr>
              <a:t>Early insulin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600200"/>
            <a:ext cx="33375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11311" y="1764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BE7D23"/>
          </a:solidFill>
          <a:ln>
            <a:solidFill>
              <a:srgbClr val="BE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1" y="176936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1764792"/>
            <a:ext cx="2496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50" b="1">
                <a:solidFill>
                  <a:srgbClr val="0F263A"/>
                </a:solidFill>
                <a:latin typeface="Aptos"/>
              </a:rPr>
              <a:t>MIXED PHENOTYPE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221992"/>
            <a:ext cx="2496312" cy="2313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1F2B34"/>
                </a:solidFill>
                <a:latin typeface="Aptos"/>
              </a:rPr>
              <a:t>Combination approach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201168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000" b="1">
                <a:solidFill>
                  <a:srgbClr val="188767"/>
                </a:solidFill>
                <a:latin typeface="Aptos"/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698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600" b="1">
                <a:solidFill>
                  <a:srgbClr val="0F263A"/>
                </a:solidFill>
                <a:latin typeface="Aptos"/>
              </a:rPr>
              <a:t>Clinical Take-Home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52728"/>
            <a:ext cx="914400" cy="45720"/>
          </a:xfrm>
          <a:prstGeom prst="rect">
            <a:avLst/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750" b="0">
                <a:solidFill>
                  <a:srgbClr val="596974"/>
                </a:solidFill>
                <a:latin typeface="Aptos"/>
              </a:rPr>
              <a:t>RISK FACTORS FOR DIABETES  •  FROM GENETICS TO 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750" b="0">
                <a:solidFill>
                  <a:srgbClr val="596974"/>
                </a:solidFill>
                <a:latin typeface="Aptos"/>
              </a:rP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167335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6779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673351"/>
            <a:ext cx="43708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Diabetes risk reflects biology, not just weight.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73952" y="167335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67792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673351"/>
            <a:ext cx="43708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Lean patients can have severe disease.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79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0392" y="35478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55244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547872"/>
            <a:ext cx="43708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Early labs can identify disease mechanism.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383279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E8F6F1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73952" y="35478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88767"/>
          </a:solidFill>
          <a:ln>
            <a:solidFill>
              <a:srgbClr val="188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3552444"/>
            <a:ext cx="384048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547872"/>
            <a:ext cx="43708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0F263A"/>
                </a:solidFill>
                <a:latin typeface="Aptos"/>
              </a:rPr>
              <a:t>Mechanism-based therapy improves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188767"/>
                </a:solidFill>
                <a:latin typeface="Aptos"/>
              </a:rPr>
              <a:t>UNDERSTAND THE BIOLOGY  →  RECOGNIZE THE PHENOTYPE  →  ACT EARLY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2167</Words>
  <Application>Microsoft Office PowerPoint</Application>
  <PresentationFormat>Widescreen</PresentationFormat>
  <Paragraphs>643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Doctyn Innovations</cp:lastModifiedBy>
  <cp:revision>2</cp:revision>
  <dcterms:created xsi:type="dcterms:W3CDTF">2013-01-27T09:14:16Z</dcterms:created>
  <dcterms:modified xsi:type="dcterms:W3CDTF">2026-10-08T12:04:45Z</dcterms:modified>
  <cp:category/>
</cp:coreProperties>
</file>